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1" r:id="rId5"/>
    <p:sldId id="258" r:id="rId6"/>
    <p:sldId id="260" r:id="rId7"/>
    <p:sldId id="262" r:id="rId8"/>
    <p:sldId id="263" r:id="rId9"/>
    <p:sldId id="264" r:id="rId10"/>
    <p:sldId id="265" r:id="rId11"/>
    <p:sldId id="268" r:id="rId12"/>
    <p:sldId id="267" r:id="rId13"/>
    <p:sldId id="266"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65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C3A0EBC-2AF2-441C-8279-F4CFAF0601A3}" type="datetimeFigureOut">
              <a:rPr lang="en-US" smtClean="0"/>
              <a:t>7/29/2022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81146E-FC71-4138-A58C-B78323B527A3}" type="slidenum">
              <a:rPr lang="en-US" smtClean="0"/>
              <a:t>‹#›</a:t>
            </a:fld>
            <a:endParaRPr lang="en-US"/>
          </a:p>
        </p:txBody>
      </p:sp>
    </p:spTree>
    <p:extLst>
      <p:ext uri="{BB962C8B-B14F-4D97-AF65-F5344CB8AC3E}">
        <p14:creationId xmlns:p14="http://schemas.microsoft.com/office/powerpoint/2010/main" val="7342532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3A0EBC-2AF2-441C-8279-F4CFAF0601A3}" type="datetimeFigureOut">
              <a:rPr lang="en-US" smtClean="0"/>
              <a:t>7/29/2022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81146E-FC71-4138-A58C-B78323B527A3}" type="slidenum">
              <a:rPr lang="en-US" smtClean="0"/>
              <a:t>‹#›</a:t>
            </a:fld>
            <a:endParaRPr lang="en-US"/>
          </a:p>
        </p:txBody>
      </p:sp>
    </p:spTree>
    <p:extLst>
      <p:ext uri="{BB962C8B-B14F-4D97-AF65-F5344CB8AC3E}">
        <p14:creationId xmlns:p14="http://schemas.microsoft.com/office/powerpoint/2010/main" val="24916851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C3A0EBC-2AF2-441C-8279-F4CFAF0601A3}" type="datetimeFigureOut">
              <a:rPr lang="en-US" smtClean="0"/>
              <a:t>7/29/2022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81146E-FC71-4138-A58C-B78323B527A3}" type="slidenum">
              <a:rPr lang="en-US" smtClean="0"/>
              <a:t>‹#›</a:t>
            </a:fld>
            <a:endParaRPr lang="en-US"/>
          </a:p>
        </p:txBody>
      </p:sp>
    </p:spTree>
    <p:extLst>
      <p:ext uri="{BB962C8B-B14F-4D97-AF65-F5344CB8AC3E}">
        <p14:creationId xmlns:p14="http://schemas.microsoft.com/office/powerpoint/2010/main" val="11820850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C3A0EBC-2AF2-441C-8279-F4CFAF0601A3}" type="datetimeFigureOut">
              <a:rPr lang="en-US" smtClean="0"/>
              <a:t>7/29/2022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81146E-FC71-4138-A58C-B78323B527A3}" type="slidenum">
              <a:rPr lang="en-US" smtClean="0"/>
              <a:t>‹#›</a:t>
            </a:fld>
            <a:endParaRPr lang="en-US"/>
          </a:p>
        </p:txBody>
      </p:sp>
    </p:spTree>
    <p:extLst>
      <p:ext uri="{BB962C8B-B14F-4D97-AF65-F5344CB8AC3E}">
        <p14:creationId xmlns:p14="http://schemas.microsoft.com/office/powerpoint/2010/main" val="38123901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C3A0EBC-2AF2-441C-8279-F4CFAF0601A3}" type="datetimeFigureOut">
              <a:rPr lang="en-US" smtClean="0"/>
              <a:t>7/29/2022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681146E-FC71-4138-A58C-B78323B527A3}" type="slidenum">
              <a:rPr lang="en-US" smtClean="0"/>
              <a:t>‹#›</a:t>
            </a:fld>
            <a:endParaRPr lang="en-US"/>
          </a:p>
        </p:txBody>
      </p:sp>
    </p:spTree>
    <p:extLst>
      <p:ext uri="{BB962C8B-B14F-4D97-AF65-F5344CB8AC3E}">
        <p14:creationId xmlns:p14="http://schemas.microsoft.com/office/powerpoint/2010/main" val="13209967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C3A0EBC-2AF2-441C-8279-F4CFAF0601A3}" type="datetimeFigureOut">
              <a:rPr lang="en-US" smtClean="0"/>
              <a:t>7/29/2022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681146E-FC71-4138-A58C-B78323B527A3}" type="slidenum">
              <a:rPr lang="en-US" smtClean="0"/>
              <a:t>‹#›</a:t>
            </a:fld>
            <a:endParaRPr lang="en-US"/>
          </a:p>
        </p:txBody>
      </p:sp>
    </p:spTree>
    <p:extLst>
      <p:ext uri="{BB962C8B-B14F-4D97-AF65-F5344CB8AC3E}">
        <p14:creationId xmlns:p14="http://schemas.microsoft.com/office/powerpoint/2010/main" val="10831535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C3A0EBC-2AF2-441C-8279-F4CFAF0601A3}" type="datetimeFigureOut">
              <a:rPr lang="en-US" smtClean="0"/>
              <a:t>7/29/2022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681146E-FC71-4138-A58C-B78323B527A3}" type="slidenum">
              <a:rPr lang="en-US" smtClean="0"/>
              <a:t>‹#›</a:t>
            </a:fld>
            <a:endParaRPr lang="en-US"/>
          </a:p>
        </p:txBody>
      </p:sp>
    </p:spTree>
    <p:extLst>
      <p:ext uri="{BB962C8B-B14F-4D97-AF65-F5344CB8AC3E}">
        <p14:creationId xmlns:p14="http://schemas.microsoft.com/office/powerpoint/2010/main" val="25629703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C3A0EBC-2AF2-441C-8279-F4CFAF0601A3}" type="datetimeFigureOut">
              <a:rPr lang="en-US" smtClean="0"/>
              <a:t>7/29/2022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81146E-FC71-4138-A58C-B78323B527A3}" type="slidenum">
              <a:rPr lang="en-US" smtClean="0"/>
              <a:t>‹#›</a:t>
            </a:fld>
            <a:endParaRPr lang="en-US"/>
          </a:p>
        </p:txBody>
      </p:sp>
    </p:spTree>
    <p:extLst>
      <p:ext uri="{BB962C8B-B14F-4D97-AF65-F5344CB8AC3E}">
        <p14:creationId xmlns:p14="http://schemas.microsoft.com/office/powerpoint/2010/main" val="13025609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C3A0EBC-2AF2-441C-8279-F4CFAF0601A3}" type="datetimeFigureOut">
              <a:rPr lang="en-US" smtClean="0"/>
              <a:t>7/29/2022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81146E-FC71-4138-A58C-B78323B527A3}" type="slidenum">
              <a:rPr lang="en-US" smtClean="0"/>
              <a:t>‹#›</a:t>
            </a:fld>
            <a:endParaRPr lang="en-US"/>
          </a:p>
        </p:txBody>
      </p:sp>
    </p:spTree>
    <p:extLst>
      <p:ext uri="{BB962C8B-B14F-4D97-AF65-F5344CB8AC3E}">
        <p14:creationId xmlns:p14="http://schemas.microsoft.com/office/powerpoint/2010/main" val="9183700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3A0EBC-2AF2-441C-8279-F4CFAF0601A3}" type="datetimeFigureOut">
              <a:rPr lang="en-US" smtClean="0"/>
              <a:t>7/29/2022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81146E-FC71-4138-A58C-B78323B527A3}" type="slidenum">
              <a:rPr lang="en-US" smtClean="0"/>
              <a:t>‹#›</a:t>
            </a:fld>
            <a:endParaRPr lang="en-US"/>
          </a:p>
        </p:txBody>
      </p:sp>
    </p:spTree>
    <p:extLst>
      <p:ext uri="{BB962C8B-B14F-4D97-AF65-F5344CB8AC3E}">
        <p14:creationId xmlns:p14="http://schemas.microsoft.com/office/powerpoint/2010/main" val="14610196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3A0EBC-2AF2-441C-8279-F4CFAF0601A3}" type="datetimeFigureOut">
              <a:rPr lang="en-US" smtClean="0"/>
              <a:t>7/29/2022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81146E-FC71-4138-A58C-B78323B527A3}" type="slidenum">
              <a:rPr lang="en-US" smtClean="0"/>
              <a:t>‹#›</a:t>
            </a:fld>
            <a:endParaRPr lang="en-US"/>
          </a:p>
        </p:txBody>
      </p:sp>
    </p:spTree>
    <p:extLst>
      <p:ext uri="{BB962C8B-B14F-4D97-AF65-F5344CB8AC3E}">
        <p14:creationId xmlns:p14="http://schemas.microsoft.com/office/powerpoint/2010/main" val="5343575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C3A0EBC-2AF2-441C-8279-F4CFAF0601A3}" type="datetimeFigureOut">
              <a:rPr lang="en-US" smtClean="0"/>
              <a:t>7/29/2022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81146E-FC71-4138-A58C-B78323B527A3}" type="slidenum">
              <a:rPr lang="en-US" smtClean="0"/>
              <a:t>‹#›</a:t>
            </a:fld>
            <a:endParaRPr lang="en-US"/>
          </a:p>
        </p:txBody>
      </p:sp>
    </p:spTree>
    <p:extLst>
      <p:ext uri="{BB962C8B-B14F-4D97-AF65-F5344CB8AC3E}">
        <p14:creationId xmlns:p14="http://schemas.microsoft.com/office/powerpoint/2010/main" val="9993951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6600" b="1" dirty="0" smtClean="0"/>
              <a:t>What is SSH command?</a:t>
            </a:r>
            <a:endParaRPr lang="en-US" sz="6600" b="1"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20328135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626" y="4164825"/>
            <a:ext cx="5272465" cy="2623902"/>
          </a:xfrm>
        </p:spPr>
        <p:txBody>
          <a:bodyPr>
            <a:noAutofit/>
          </a:bodyPr>
          <a:lstStyle/>
          <a:p>
            <a:r>
              <a:rPr lang="en-US" sz="2400" dirty="0" smtClean="0"/>
              <a:t>The </a:t>
            </a:r>
            <a:r>
              <a:rPr lang="en-US" sz="2400" dirty="0" err="1" smtClean="0"/>
              <a:t>ssh</a:t>
            </a:r>
            <a:r>
              <a:rPr lang="en-US" sz="2400" dirty="0" smtClean="0"/>
              <a:t> command provides a secure encrypted connection between two hosts over an insecure network. This connection can also be used for terminal access, file transfers, and for tunneling other applications. </a:t>
            </a:r>
            <a:endParaRPr lang="en-US" sz="2400" dirty="0"/>
          </a:p>
        </p:txBody>
      </p:sp>
      <p:pic>
        <p:nvPicPr>
          <p:cNvPr id="5" name="Content Placeholder 4"/>
          <p:cNvPicPr>
            <a:picLocks noGrp="1" noChangeAspect="1"/>
          </p:cNvPicPr>
          <p:nvPr>
            <p:ph idx="1"/>
          </p:nvPr>
        </p:nvPicPr>
        <p:blipFill>
          <a:blip r:embed="rId2"/>
          <a:stretch>
            <a:fillRect/>
          </a:stretch>
        </p:blipFill>
        <p:spPr>
          <a:xfrm>
            <a:off x="5440218" y="4111895"/>
            <a:ext cx="6751782" cy="2746105"/>
          </a:xfrm>
          <a:prstGeom prst="rect">
            <a:avLst/>
          </a:prstGeom>
        </p:spPr>
      </p:pic>
      <p:pic>
        <p:nvPicPr>
          <p:cNvPr id="4" name="Picture 3"/>
          <p:cNvPicPr>
            <a:picLocks noChangeAspect="1"/>
          </p:cNvPicPr>
          <p:nvPr/>
        </p:nvPicPr>
        <p:blipFill>
          <a:blip r:embed="rId3"/>
          <a:stretch>
            <a:fillRect/>
          </a:stretch>
        </p:blipFill>
        <p:spPr>
          <a:xfrm>
            <a:off x="0" y="0"/>
            <a:ext cx="9038103" cy="4122777"/>
          </a:xfrm>
          <a:prstGeom prst="rect">
            <a:avLst/>
          </a:prstGeom>
        </p:spPr>
      </p:pic>
    </p:spTree>
    <p:extLst>
      <p:ext uri="{BB962C8B-B14F-4D97-AF65-F5344CB8AC3E}">
        <p14:creationId xmlns:p14="http://schemas.microsoft.com/office/powerpoint/2010/main" val="23223146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Content Placeholder 4"/>
          <p:cNvPicPr>
            <a:picLocks noGrp="1" noChangeAspect="1"/>
          </p:cNvPicPr>
          <p:nvPr>
            <p:ph idx="1"/>
          </p:nvPr>
        </p:nvPicPr>
        <p:blipFill>
          <a:blip r:embed="rId2"/>
          <a:stretch>
            <a:fillRect/>
          </a:stretch>
        </p:blipFill>
        <p:spPr>
          <a:xfrm>
            <a:off x="87599" y="0"/>
            <a:ext cx="7037437" cy="3823855"/>
          </a:xfrm>
          <a:prstGeom prst="rect">
            <a:avLst/>
          </a:prstGeom>
        </p:spPr>
      </p:pic>
      <p:pic>
        <p:nvPicPr>
          <p:cNvPr id="4" name="Picture 3"/>
          <p:cNvPicPr>
            <a:picLocks noChangeAspect="1"/>
          </p:cNvPicPr>
          <p:nvPr/>
        </p:nvPicPr>
        <p:blipFill>
          <a:blip r:embed="rId3"/>
          <a:stretch>
            <a:fillRect/>
          </a:stretch>
        </p:blipFill>
        <p:spPr>
          <a:xfrm>
            <a:off x="6038273" y="2831526"/>
            <a:ext cx="6598004" cy="4026474"/>
          </a:xfrm>
          <a:prstGeom prst="rect">
            <a:avLst/>
          </a:prstGeom>
        </p:spPr>
      </p:pic>
    </p:spTree>
    <p:extLst>
      <p:ext uri="{BB962C8B-B14F-4D97-AF65-F5344CB8AC3E}">
        <p14:creationId xmlns:p14="http://schemas.microsoft.com/office/powerpoint/2010/main" val="38763682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marL="0" indent="0">
              <a:buNone/>
            </a:pPr>
            <a:r>
              <a:rPr lang="en-US" dirty="0"/>
              <a:t>SSH </a:t>
            </a:r>
            <a:r>
              <a:rPr lang="en-US" dirty="0" err="1"/>
              <a:t>tarafından</a:t>
            </a:r>
            <a:r>
              <a:rPr lang="en-US" dirty="0"/>
              <a:t> </a:t>
            </a:r>
            <a:r>
              <a:rPr lang="en-US" dirty="0" err="1"/>
              <a:t>kullanılan</a:t>
            </a:r>
            <a:r>
              <a:rPr lang="en-US" dirty="0"/>
              <a:t> 3 </a:t>
            </a:r>
            <a:r>
              <a:rPr lang="en-US" dirty="0" err="1"/>
              <a:t>farklı</a:t>
            </a:r>
            <a:r>
              <a:rPr lang="en-US" dirty="0"/>
              <a:t> </a:t>
            </a:r>
            <a:r>
              <a:rPr lang="en-US" dirty="0" err="1"/>
              <a:t>şifreleme</a:t>
            </a:r>
            <a:r>
              <a:rPr lang="en-US" dirty="0"/>
              <a:t> </a:t>
            </a:r>
            <a:r>
              <a:rPr lang="en-US" dirty="0" err="1"/>
              <a:t>teknolojisi</a:t>
            </a:r>
            <a:r>
              <a:rPr lang="en-US" dirty="0"/>
              <a:t> </a:t>
            </a:r>
            <a:r>
              <a:rPr lang="en-US" dirty="0" err="1"/>
              <a:t>bulunur</a:t>
            </a:r>
            <a:r>
              <a:rPr lang="en-US" dirty="0"/>
              <a:t>:</a:t>
            </a:r>
          </a:p>
          <a:p>
            <a:r>
              <a:rPr lang="en-US" b="1" dirty="0" err="1"/>
              <a:t>Simetrik</a:t>
            </a:r>
            <a:r>
              <a:rPr lang="en-US" b="1" dirty="0"/>
              <a:t> </a:t>
            </a:r>
            <a:r>
              <a:rPr lang="en-US" b="1" dirty="0" err="1" smtClean="0"/>
              <a:t>şifreleme</a:t>
            </a:r>
            <a:endParaRPr lang="en-US" b="1" dirty="0" smtClean="0"/>
          </a:p>
          <a:p>
            <a:pPr marL="0" indent="0">
              <a:buNone/>
            </a:pPr>
            <a:r>
              <a:rPr lang="en-US" dirty="0" smtClean="0"/>
              <a:t>(</a:t>
            </a:r>
            <a:r>
              <a:rPr lang="en-US" sz="2400" dirty="0" err="1" smtClean="0"/>
              <a:t>Simetrik</a:t>
            </a:r>
            <a:r>
              <a:rPr lang="en-US" sz="2400" dirty="0" smtClean="0"/>
              <a:t> </a:t>
            </a:r>
            <a:r>
              <a:rPr lang="en-US" sz="2400" dirty="0" err="1"/>
              <a:t>şifrelemede</a:t>
            </a:r>
            <a:r>
              <a:rPr lang="en-US" sz="2400" dirty="0"/>
              <a:t> </a:t>
            </a:r>
            <a:r>
              <a:rPr lang="en-US" sz="2400" dirty="0" err="1"/>
              <a:t>bir</a:t>
            </a:r>
            <a:r>
              <a:rPr lang="en-US" sz="2400" dirty="0"/>
              <a:t> </a:t>
            </a:r>
            <a:r>
              <a:rPr lang="en-US" sz="2400" dirty="0" err="1"/>
              <a:t>mesajın</a:t>
            </a:r>
            <a:r>
              <a:rPr lang="en-US" sz="2400" dirty="0"/>
              <a:t> hem </a:t>
            </a:r>
            <a:r>
              <a:rPr lang="en-US" sz="2400" dirty="0" err="1"/>
              <a:t>şifrelenmesi</a:t>
            </a:r>
            <a:r>
              <a:rPr lang="en-US" sz="2400" dirty="0"/>
              <a:t> </a:t>
            </a:r>
            <a:r>
              <a:rPr lang="en-US" sz="2400" dirty="0" err="1"/>
              <a:t>ve</a:t>
            </a:r>
            <a:r>
              <a:rPr lang="en-US" sz="2400" dirty="0"/>
              <a:t> </a:t>
            </a:r>
            <a:r>
              <a:rPr lang="en-US" sz="2400" dirty="0" err="1"/>
              <a:t>şifresinin</a:t>
            </a:r>
            <a:r>
              <a:rPr lang="en-US" sz="2400" dirty="0"/>
              <a:t> </a:t>
            </a:r>
            <a:r>
              <a:rPr lang="en-US" sz="2400" dirty="0" err="1"/>
              <a:t>çözülmesi</a:t>
            </a:r>
            <a:r>
              <a:rPr lang="en-US" sz="2400" dirty="0"/>
              <a:t> </a:t>
            </a:r>
            <a:r>
              <a:rPr lang="en-US" sz="2400" dirty="0" err="1"/>
              <a:t>için</a:t>
            </a:r>
            <a:r>
              <a:rPr lang="en-US" sz="2400" dirty="0"/>
              <a:t> hem client hem de host </a:t>
            </a:r>
            <a:r>
              <a:rPr lang="en-US" sz="2400" dirty="0" err="1"/>
              <a:t>tarafından</a:t>
            </a:r>
            <a:r>
              <a:rPr lang="en-US" sz="2400" dirty="0"/>
              <a:t> </a:t>
            </a:r>
            <a:r>
              <a:rPr lang="en-US" sz="2400" dirty="0" err="1"/>
              <a:t>aynı</a:t>
            </a:r>
            <a:r>
              <a:rPr lang="en-US" sz="2400" dirty="0"/>
              <a:t> </a:t>
            </a:r>
            <a:r>
              <a:rPr lang="en-US" sz="2400" b="1" dirty="0" err="1"/>
              <a:t>gizli</a:t>
            </a:r>
            <a:r>
              <a:rPr lang="en-US" sz="2400" b="1" dirty="0"/>
              <a:t> </a:t>
            </a:r>
            <a:r>
              <a:rPr lang="en-US" sz="2400" b="1" dirty="0" err="1"/>
              <a:t>anahtar</a:t>
            </a:r>
            <a:r>
              <a:rPr lang="en-US" sz="2400" dirty="0"/>
              <a:t> </a:t>
            </a:r>
            <a:r>
              <a:rPr lang="en-US" sz="2400" dirty="0" err="1"/>
              <a:t>kullanılır</a:t>
            </a:r>
            <a:r>
              <a:rPr lang="en-US" sz="2400" dirty="0" smtClean="0"/>
              <a:t>.)</a:t>
            </a:r>
            <a:r>
              <a:rPr lang="en-US" sz="2400" dirty="0"/>
              <a:t> </a:t>
            </a:r>
          </a:p>
          <a:p>
            <a:r>
              <a:rPr lang="en-US" b="1" dirty="0" err="1"/>
              <a:t>Asimetrik</a:t>
            </a:r>
            <a:r>
              <a:rPr lang="en-US" b="1" dirty="0"/>
              <a:t> </a:t>
            </a:r>
            <a:r>
              <a:rPr lang="en-US" b="1" dirty="0" err="1" smtClean="0"/>
              <a:t>şifreleme</a:t>
            </a:r>
            <a:endParaRPr lang="en-US" b="1" dirty="0" smtClean="0"/>
          </a:p>
          <a:p>
            <a:pPr marL="0" indent="0">
              <a:buNone/>
            </a:pPr>
            <a:r>
              <a:rPr lang="en-US" sz="2400" dirty="0" smtClean="0"/>
              <a:t>(</a:t>
            </a:r>
            <a:r>
              <a:rPr lang="en-US" sz="2400" dirty="0" err="1" smtClean="0"/>
              <a:t>Simetrik</a:t>
            </a:r>
            <a:r>
              <a:rPr lang="en-US" sz="2400" dirty="0" smtClean="0"/>
              <a:t> </a:t>
            </a:r>
            <a:r>
              <a:rPr lang="en-US" sz="2400" dirty="0" err="1"/>
              <a:t>şifrelemeden</a:t>
            </a:r>
            <a:r>
              <a:rPr lang="en-US" sz="2400" dirty="0"/>
              <a:t> </a:t>
            </a:r>
            <a:r>
              <a:rPr lang="en-US" sz="2400" dirty="0" err="1"/>
              <a:t>farklı</a:t>
            </a:r>
            <a:r>
              <a:rPr lang="en-US" sz="2400" dirty="0"/>
              <a:t> </a:t>
            </a:r>
            <a:r>
              <a:rPr lang="en-US" sz="2400" dirty="0" err="1"/>
              <a:t>olarak</a:t>
            </a:r>
            <a:r>
              <a:rPr lang="en-US" sz="2400" dirty="0"/>
              <a:t>, </a:t>
            </a:r>
            <a:r>
              <a:rPr lang="en-US" sz="2400" dirty="0" err="1"/>
              <a:t>asimetrik</a:t>
            </a:r>
            <a:r>
              <a:rPr lang="en-US" sz="2400" dirty="0"/>
              <a:t> </a:t>
            </a:r>
            <a:r>
              <a:rPr lang="en-US" sz="2400" dirty="0" err="1"/>
              <a:t>şifreleme</a:t>
            </a:r>
            <a:r>
              <a:rPr lang="en-US" sz="2400" dirty="0"/>
              <a:t> </a:t>
            </a:r>
            <a:r>
              <a:rPr lang="en-US" sz="2400" dirty="0" err="1"/>
              <a:t>yöntemi</a:t>
            </a:r>
            <a:r>
              <a:rPr lang="en-US" sz="2400" dirty="0"/>
              <a:t> </a:t>
            </a:r>
            <a:r>
              <a:rPr lang="en-US" sz="2400" dirty="0" err="1"/>
              <a:t>şifreleme</a:t>
            </a:r>
            <a:r>
              <a:rPr lang="en-US" sz="2400" dirty="0"/>
              <a:t> </a:t>
            </a:r>
            <a:r>
              <a:rPr lang="en-US" sz="2400" dirty="0" err="1"/>
              <a:t>ve</a:t>
            </a:r>
            <a:r>
              <a:rPr lang="en-US" sz="2400" dirty="0"/>
              <a:t> </a:t>
            </a:r>
            <a:r>
              <a:rPr lang="en-US" sz="2400" dirty="0" err="1"/>
              <a:t>şifreyi</a:t>
            </a:r>
            <a:r>
              <a:rPr lang="en-US" sz="2400" dirty="0"/>
              <a:t> </a:t>
            </a:r>
            <a:r>
              <a:rPr lang="en-US" sz="2400" dirty="0" err="1"/>
              <a:t>çözme</a:t>
            </a:r>
            <a:r>
              <a:rPr lang="en-US" sz="2400" dirty="0"/>
              <a:t> </a:t>
            </a:r>
            <a:r>
              <a:rPr lang="en-US" sz="2400" dirty="0" err="1"/>
              <a:t>işlemleri</a:t>
            </a:r>
            <a:r>
              <a:rPr lang="en-US" sz="2400" dirty="0"/>
              <a:t> </a:t>
            </a:r>
            <a:r>
              <a:rPr lang="en-US" sz="2400" dirty="0" err="1"/>
              <a:t>için</a:t>
            </a:r>
            <a:r>
              <a:rPr lang="en-US" sz="2400" dirty="0"/>
              <a:t> </a:t>
            </a:r>
            <a:r>
              <a:rPr lang="en-US" sz="2400" dirty="0" err="1"/>
              <a:t>iki</a:t>
            </a:r>
            <a:r>
              <a:rPr lang="en-US" sz="2400" dirty="0"/>
              <a:t> </a:t>
            </a:r>
            <a:r>
              <a:rPr lang="en-US" sz="2400" dirty="0" err="1"/>
              <a:t>farklı</a:t>
            </a:r>
            <a:r>
              <a:rPr lang="en-US" sz="2400" dirty="0"/>
              <a:t> </a:t>
            </a:r>
            <a:r>
              <a:rPr lang="en-US" sz="2400" dirty="0" err="1"/>
              <a:t>anahtar</a:t>
            </a:r>
            <a:r>
              <a:rPr lang="en-US" sz="2400" dirty="0"/>
              <a:t> </a:t>
            </a:r>
            <a:r>
              <a:rPr lang="en-US" sz="2400" dirty="0" err="1"/>
              <a:t>kullanır</a:t>
            </a:r>
            <a:r>
              <a:rPr lang="en-US" sz="2400" dirty="0"/>
              <a:t>. Bu </a:t>
            </a:r>
            <a:r>
              <a:rPr lang="en-US" sz="2400" dirty="0" err="1"/>
              <a:t>iki</a:t>
            </a:r>
            <a:r>
              <a:rPr lang="en-US" sz="2400" dirty="0"/>
              <a:t> </a:t>
            </a:r>
            <a:r>
              <a:rPr lang="en-US" sz="2400" dirty="0" err="1"/>
              <a:t>anahtar</a:t>
            </a:r>
            <a:r>
              <a:rPr lang="en-US" sz="2400" dirty="0"/>
              <a:t> </a:t>
            </a:r>
            <a:r>
              <a:rPr lang="en-US" sz="2400" b="1" dirty="0"/>
              <a:t>public key</a:t>
            </a:r>
            <a:r>
              <a:rPr lang="en-US" sz="2400" dirty="0"/>
              <a:t> </a:t>
            </a:r>
            <a:r>
              <a:rPr lang="en-US" sz="2400" dirty="0" err="1"/>
              <a:t>ve</a:t>
            </a:r>
            <a:r>
              <a:rPr lang="en-US" sz="2400" dirty="0"/>
              <a:t> </a:t>
            </a:r>
            <a:r>
              <a:rPr lang="en-US" sz="2400" b="1" dirty="0"/>
              <a:t>private key</a:t>
            </a:r>
            <a:r>
              <a:rPr lang="en-US" sz="2400" dirty="0"/>
              <a:t> </a:t>
            </a:r>
            <a:r>
              <a:rPr lang="en-US" sz="2400" dirty="0" err="1"/>
              <a:t>olarak</a:t>
            </a:r>
            <a:r>
              <a:rPr lang="en-US" sz="2400" dirty="0"/>
              <a:t> </a:t>
            </a:r>
            <a:r>
              <a:rPr lang="en-US" sz="2400" dirty="0" err="1"/>
              <a:t>bilinir</a:t>
            </a:r>
            <a:r>
              <a:rPr lang="en-US" sz="2400" dirty="0" smtClean="0"/>
              <a:t>.)</a:t>
            </a:r>
            <a:endParaRPr lang="en-US" sz="2400" dirty="0"/>
          </a:p>
          <a:p>
            <a:r>
              <a:rPr lang="en-US" b="1" dirty="0" smtClean="0"/>
              <a:t>Hashing</a:t>
            </a:r>
          </a:p>
          <a:p>
            <a:pPr marL="0" indent="0">
              <a:buNone/>
            </a:pPr>
            <a:r>
              <a:rPr lang="en-US" sz="2600" dirty="0" smtClean="0"/>
              <a:t>(Secure </a:t>
            </a:r>
            <a:r>
              <a:rPr lang="en-US" sz="2600" dirty="0"/>
              <a:t>Shell </a:t>
            </a:r>
            <a:r>
              <a:rPr lang="en-US" sz="2600" dirty="0" err="1"/>
              <a:t>Bağlantılarında</a:t>
            </a:r>
            <a:r>
              <a:rPr lang="en-US" sz="2600" dirty="0"/>
              <a:t> </a:t>
            </a:r>
            <a:r>
              <a:rPr lang="en-US" sz="2600" dirty="0" err="1"/>
              <a:t>tek</a:t>
            </a:r>
            <a:r>
              <a:rPr lang="en-US" sz="2600" dirty="0"/>
              <a:t> </a:t>
            </a:r>
            <a:r>
              <a:rPr lang="en-US" sz="2600" dirty="0" err="1"/>
              <a:t>yönlü</a:t>
            </a:r>
            <a:r>
              <a:rPr lang="en-US" sz="2600" dirty="0"/>
              <a:t> hashing de </a:t>
            </a:r>
            <a:r>
              <a:rPr lang="en-US" sz="2600" dirty="0" err="1"/>
              <a:t>kullanılan</a:t>
            </a:r>
            <a:r>
              <a:rPr lang="en-US" sz="2600" dirty="0"/>
              <a:t> </a:t>
            </a:r>
            <a:r>
              <a:rPr lang="en-US" sz="2600" dirty="0" err="1"/>
              <a:t>şifreleme</a:t>
            </a:r>
            <a:r>
              <a:rPr lang="en-US" sz="2600" dirty="0"/>
              <a:t> </a:t>
            </a:r>
            <a:r>
              <a:rPr lang="en-US" sz="2600" dirty="0" err="1"/>
              <a:t>yöntemlerinden</a:t>
            </a:r>
            <a:r>
              <a:rPr lang="en-US" sz="2600" dirty="0"/>
              <a:t> </a:t>
            </a:r>
            <a:r>
              <a:rPr lang="en-US" sz="2600" dirty="0" err="1"/>
              <a:t>biridir</a:t>
            </a:r>
            <a:r>
              <a:rPr lang="en-US" sz="2600" dirty="0"/>
              <a:t>. Bu </a:t>
            </a:r>
            <a:r>
              <a:rPr lang="en-US" sz="2600" dirty="0" err="1"/>
              <a:t>yöntemle</a:t>
            </a:r>
            <a:r>
              <a:rPr lang="en-US" sz="2600" dirty="0"/>
              <a:t> </a:t>
            </a:r>
            <a:r>
              <a:rPr lang="en-US" sz="2600" dirty="0" err="1"/>
              <a:t>şifrelenen</a:t>
            </a:r>
            <a:r>
              <a:rPr lang="en-US" sz="2600" dirty="0"/>
              <a:t> </a:t>
            </a:r>
            <a:r>
              <a:rPr lang="en-US" sz="2600" dirty="0" err="1"/>
              <a:t>mesajları</a:t>
            </a:r>
            <a:r>
              <a:rPr lang="en-US" sz="2600" dirty="0"/>
              <a:t> </a:t>
            </a:r>
            <a:r>
              <a:rPr lang="en-US" sz="2600" dirty="0" err="1"/>
              <a:t>diğerlerinden</a:t>
            </a:r>
            <a:r>
              <a:rPr lang="en-US" sz="2600" dirty="0"/>
              <a:t> </a:t>
            </a:r>
            <a:r>
              <a:rPr lang="en-US" sz="2600" dirty="0" err="1"/>
              <a:t>farklı</a:t>
            </a:r>
            <a:r>
              <a:rPr lang="en-US" sz="2600" dirty="0"/>
              <a:t> </a:t>
            </a:r>
            <a:r>
              <a:rPr lang="en-US" sz="2600" dirty="0" err="1"/>
              <a:t>kılan</a:t>
            </a:r>
            <a:r>
              <a:rPr lang="en-US" sz="2600" dirty="0"/>
              <a:t> </a:t>
            </a:r>
            <a:r>
              <a:rPr lang="en-US" sz="2600" dirty="0" err="1"/>
              <a:t>özellik</a:t>
            </a:r>
            <a:r>
              <a:rPr lang="en-US" sz="2600" dirty="0"/>
              <a:t>, </a:t>
            </a:r>
            <a:r>
              <a:rPr lang="en-US" sz="2600" dirty="0" err="1"/>
              <a:t>mesajların</a:t>
            </a:r>
            <a:r>
              <a:rPr lang="en-US" sz="2600" dirty="0"/>
              <a:t> </a:t>
            </a:r>
            <a:r>
              <a:rPr lang="en-US" sz="2600" dirty="0" err="1"/>
              <a:t>asla</a:t>
            </a:r>
            <a:r>
              <a:rPr lang="en-US" sz="2600" dirty="0"/>
              <a:t> </a:t>
            </a:r>
            <a:r>
              <a:rPr lang="en-US" sz="2600" dirty="0" err="1"/>
              <a:t>çözülmesi</a:t>
            </a:r>
            <a:r>
              <a:rPr lang="en-US" sz="2600" dirty="0"/>
              <a:t> </a:t>
            </a:r>
            <a:r>
              <a:rPr lang="en-US" sz="2600" dirty="0" err="1"/>
              <a:t>gerekmemesidir</a:t>
            </a:r>
            <a:r>
              <a:rPr lang="en-US" sz="2600" dirty="0" smtClean="0"/>
              <a:t>.)</a:t>
            </a:r>
            <a:endParaRPr lang="en-US" sz="2600" dirty="0"/>
          </a:p>
          <a:p>
            <a:endParaRPr lang="en-US" dirty="0"/>
          </a:p>
        </p:txBody>
      </p:sp>
    </p:spTree>
    <p:extLst>
      <p:ext uri="{BB962C8B-B14F-4D97-AF65-F5344CB8AC3E}">
        <p14:creationId xmlns:p14="http://schemas.microsoft.com/office/powerpoint/2010/main" val="27728872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7139" y="5006109"/>
            <a:ext cx="10515600" cy="1136072"/>
          </a:xfrm>
        </p:spPr>
        <p:txBody>
          <a:bodyPr>
            <a:normAutofit/>
          </a:bodyPr>
          <a:lstStyle/>
          <a:p>
            <a:r>
              <a:rPr lang="en-US" sz="3600" dirty="0" smtClean="0"/>
              <a:t>For windows </a:t>
            </a:r>
            <a:r>
              <a:rPr lang="en-US" sz="3600" dirty="0" err="1" smtClean="0"/>
              <a:t>ssh</a:t>
            </a:r>
            <a:r>
              <a:rPr lang="en-US" sz="3600" dirty="0" smtClean="0"/>
              <a:t> connection use </a:t>
            </a:r>
            <a:r>
              <a:rPr lang="en-US" sz="3600" dirty="0" err="1" smtClean="0"/>
              <a:t>PuTTY</a:t>
            </a:r>
            <a:endParaRPr lang="en-US" sz="3600" dirty="0"/>
          </a:p>
        </p:txBody>
      </p:sp>
      <p:sp>
        <p:nvSpPr>
          <p:cNvPr id="3" name="Content Placeholder 2"/>
          <p:cNvSpPr>
            <a:spLocks noGrp="1"/>
          </p:cNvSpPr>
          <p:nvPr>
            <p:ph idx="1"/>
          </p:nvPr>
        </p:nvSpPr>
        <p:spPr>
          <a:xfrm>
            <a:off x="782782" y="1022062"/>
            <a:ext cx="10515600" cy="3503757"/>
          </a:xfrm>
        </p:spPr>
        <p:txBody>
          <a:bodyPr/>
          <a:lstStyle/>
          <a:p>
            <a:pPr marL="0" indent="0">
              <a:buNone/>
            </a:pPr>
            <a:r>
              <a:rPr lang="en-US" dirty="0"/>
              <a:t> </a:t>
            </a:r>
            <a:r>
              <a:rPr lang="en-US" dirty="0" err="1" smtClean="0"/>
              <a:t>sudo</a:t>
            </a:r>
            <a:r>
              <a:rPr lang="en-US" dirty="0" smtClean="0"/>
              <a:t> </a:t>
            </a:r>
            <a:r>
              <a:rPr lang="en-US" dirty="0" err="1" smtClean="0"/>
              <a:t>systemctl</a:t>
            </a:r>
            <a:r>
              <a:rPr lang="en-US" dirty="0" smtClean="0"/>
              <a:t> restart </a:t>
            </a:r>
            <a:r>
              <a:rPr lang="en-US" dirty="0" err="1" smtClean="0"/>
              <a:t>sshd</a:t>
            </a:r>
            <a:endParaRPr lang="en-US" dirty="0" smtClean="0"/>
          </a:p>
          <a:p>
            <a:pPr marL="0" indent="0">
              <a:buNone/>
            </a:pPr>
            <a:r>
              <a:rPr lang="en-US" dirty="0"/>
              <a:t> </a:t>
            </a:r>
            <a:r>
              <a:rPr lang="en-US" dirty="0" err="1" smtClean="0"/>
              <a:t>sudo</a:t>
            </a:r>
            <a:r>
              <a:rPr lang="en-US" dirty="0" smtClean="0"/>
              <a:t> system status </a:t>
            </a:r>
            <a:r>
              <a:rPr lang="en-US" dirty="0" err="1" smtClean="0"/>
              <a:t>sshd</a:t>
            </a:r>
            <a:r>
              <a:rPr lang="en-US" dirty="0" smtClean="0"/>
              <a:t> </a:t>
            </a:r>
          </a:p>
          <a:p>
            <a:pPr marL="0" indent="0">
              <a:buNone/>
            </a:pPr>
            <a:endParaRPr lang="en-US" dirty="0"/>
          </a:p>
          <a:p>
            <a:pPr marL="0" indent="0">
              <a:buNone/>
            </a:pPr>
            <a:r>
              <a:rPr lang="en-US" dirty="0" smtClean="0"/>
              <a:t> </a:t>
            </a:r>
            <a:r>
              <a:rPr lang="en-US" dirty="0" err="1" smtClean="0"/>
              <a:t>ssh</a:t>
            </a:r>
            <a:r>
              <a:rPr lang="en-US" dirty="0" smtClean="0"/>
              <a:t> &lt;username&gt;@</a:t>
            </a:r>
            <a:r>
              <a:rPr lang="en-US" dirty="0" err="1" smtClean="0"/>
              <a:t>ipaddress</a:t>
            </a:r>
            <a:endParaRPr lang="en-US" dirty="0" smtClean="0"/>
          </a:p>
          <a:p>
            <a:pPr marL="0" indent="0">
              <a:buNone/>
            </a:pPr>
            <a:endParaRPr lang="en-US" dirty="0"/>
          </a:p>
        </p:txBody>
      </p:sp>
      <p:pic>
        <p:nvPicPr>
          <p:cNvPr id="4" name="Picture 3"/>
          <p:cNvPicPr>
            <a:picLocks noChangeAspect="1"/>
          </p:cNvPicPr>
          <p:nvPr/>
        </p:nvPicPr>
        <p:blipFill>
          <a:blip r:embed="rId2"/>
          <a:stretch>
            <a:fillRect/>
          </a:stretch>
        </p:blipFill>
        <p:spPr>
          <a:xfrm>
            <a:off x="5354267" y="1022062"/>
            <a:ext cx="5944115" cy="2240474"/>
          </a:xfrm>
          <a:prstGeom prst="rect">
            <a:avLst/>
          </a:prstGeom>
        </p:spPr>
      </p:pic>
      <p:sp>
        <p:nvSpPr>
          <p:cNvPr id="7" name="Notched Right Arrow 6"/>
          <p:cNvSpPr/>
          <p:nvPr/>
        </p:nvSpPr>
        <p:spPr>
          <a:xfrm>
            <a:off x="4673600" y="1782618"/>
            <a:ext cx="434109" cy="101600"/>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063926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dirty="0" err="1" smtClean="0"/>
              <a:t>scp</a:t>
            </a:r>
            <a:r>
              <a:rPr lang="en-US" dirty="0" smtClean="0"/>
              <a:t> -</a:t>
            </a:r>
            <a:r>
              <a:rPr lang="en-US" dirty="0" err="1" smtClean="0"/>
              <a:t>i</a:t>
            </a:r>
            <a:r>
              <a:rPr lang="en-US" dirty="0" smtClean="0"/>
              <a:t> "C:\Users\99650\Desktop\firstkey.pem" -r Project-101/ ec2-user@52.23.232.204:/home/ec2-user</a:t>
            </a:r>
            <a:endParaRPr lang="en-US" dirty="0"/>
          </a:p>
        </p:txBody>
      </p:sp>
    </p:spTree>
    <p:extLst>
      <p:ext uri="{BB962C8B-B14F-4D97-AF65-F5344CB8AC3E}">
        <p14:creationId xmlns:p14="http://schemas.microsoft.com/office/powerpoint/2010/main" val="38540046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6600" y="0"/>
            <a:ext cx="10515600" cy="886691"/>
          </a:xfrm>
        </p:spPr>
        <p:txBody>
          <a:bodyPr/>
          <a:lstStyle/>
          <a:p>
            <a:r>
              <a:rPr lang="en-US" b="1" dirty="0" smtClean="0"/>
              <a:t>1. What are the different phases in DevOps? </a:t>
            </a:r>
            <a:endParaRPr lang="en-US" b="1" dirty="0"/>
          </a:p>
        </p:txBody>
      </p:sp>
      <p:sp>
        <p:nvSpPr>
          <p:cNvPr id="3" name="Content Placeholder 2"/>
          <p:cNvSpPr>
            <a:spLocks noGrp="1"/>
          </p:cNvSpPr>
          <p:nvPr>
            <p:ph idx="1"/>
          </p:nvPr>
        </p:nvSpPr>
        <p:spPr>
          <a:xfrm>
            <a:off x="1" y="886691"/>
            <a:ext cx="12127344" cy="5971309"/>
          </a:xfrm>
        </p:spPr>
        <p:txBody>
          <a:bodyPr>
            <a:normAutofit fontScale="92500"/>
          </a:bodyPr>
          <a:lstStyle/>
          <a:p>
            <a:r>
              <a:rPr lang="en-US" b="1" dirty="0" smtClean="0"/>
              <a:t>Plan: </a:t>
            </a:r>
            <a:r>
              <a:rPr lang="en-US" dirty="0" smtClean="0"/>
              <a:t>Initially, there should be a plan for the type of application that needs to be developed. Getting a rough picture of the development process is always a good idea. </a:t>
            </a:r>
          </a:p>
          <a:p>
            <a:r>
              <a:rPr lang="en-US" b="1" dirty="0" smtClean="0"/>
              <a:t>Code:</a:t>
            </a:r>
            <a:r>
              <a:rPr lang="en-US" dirty="0" smtClean="0"/>
              <a:t> The application is coded as per the end-user requirements. </a:t>
            </a:r>
          </a:p>
          <a:p>
            <a:r>
              <a:rPr lang="en-US" b="1" dirty="0" smtClean="0"/>
              <a:t>Build: </a:t>
            </a:r>
            <a:r>
              <a:rPr lang="en-US" dirty="0" smtClean="0"/>
              <a:t>Build the application by integrating various codes formed in the previous steps. </a:t>
            </a:r>
          </a:p>
          <a:p>
            <a:r>
              <a:rPr lang="en-US" b="1" dirty="0" smtClean="0"/>
              <a:t>Test: </a:t>
            </a:r>
            <a:r>
              <a:rPr lang="en-US" dirty="0" smtClean="0"/>
              <a:t>This is the most crucial step of the application development. Test the application and rebuild, if necessary. </a:t>
            </a:r>
          </a:p>
          <a:p>
            <a:r>
              <a:rPr lang="en-US" b="1" dirty="0" smtClean="0"/>
              <a:t>Integrate:</a:t>
            </a:r>
            <a:r>
              <a:rPr lang="en-US" dirty="0" smtClean="0"/>
              <a:t> Multiple codes from different programmers are integrated into one. </a:t>
            </a:r>
          </a:p>
          <a:p>
            <a:r>
              <a:rPr lang="en-US" b="1" dirty="0" smtClean="0"/>
              <a:t>Deploy: </a:t>
            </a:r>
            <a:r>
              <a:rPr lang="en-US" dirty="0" smtClean="0"/>
              <a:t>Code is deployed into a cloud environment for further usage. It is ensured that any new changes do not affect the functioning of a high traffic website. </a:t>
            </a:r>
          </a:p>
          <a:p>
            <a:r>
              <a:rPr lang="en-US" b="1" dirty="0" smtClean="0"/>
              <a:t>Operate: </a:t>
            </a:r>
            <a:r>
              <a:rPr lang="en-US" dirty="0" smtClean="0"/>
              <a:t>Operations are performed on the code if required. Monitor - Application performance is monitored. Changes are made to meet the end-user requirements. </a:t>
            </a:r>
            <a:endParaRPr lang="en-US" dirty="0"/>
          </a:p>
        </p:txBody>
      </p:sp>
    </p:spTree>
    <p:extLst>
      <p:ext uri="{BB962C8B-B14F-4D97-AF65-F5344CB8AC3E}">
        <p14:creationId xmlns:p14="http://schemas.microsoft.com/office/powerpoint/2010/main" val="36598697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96693"/>
            <a:ext cx="12192000" cy="900257"/>
          </a:xfrm>
        </p:spPr>
        <p:txBody>
          <a:bodyPr>
            <a:normAutofit/>
          </a:bodyPr>
          <a:lstStyle/>
          <a:p>
            <a:r>
              <a:rPr lang="en-US" sz="4000" b="1" dirty="0" smtClean="0"/>
              <a:t>2. Explain the concept behind Infrastructure as Code (</a:t>
            </a:r>
            <a:r>
              <a:rPr lang="en-US" sz="4000" b="1" dirty="0" err="1" smtClean="0"/>
              <a:t>IaC</a:t>
            </a:r>
            <a:r>
              <a:rPr lang="en-US" sz="4000" b="1" dirty="0" smtClean="0"/>
              <a:t>). </a:t>
            </a:r>
            <a:endParaRPr lang="en-US" sz="4000" b="1" dirty="0"/>
          </a:p>
        </p:txBody>
      </p:sp>
      <p:sp>
        <p:nvSpPr>
          <p:cNvPr id="3" name="Content Placeholder 2"/>
          <p:cNvSpPr>
            <a:spLocks noGrp="1"/>
          </p:cNvSpPr>
          <p:nvPr>
            <p:ph idx="1"/>
          </p:nvPr>
        </p:nvSpPr>
        <p:spPr>
          <a:xfrm>
            <a:off x="147783" y="803564"/>
            <a:ext cx="11206018" cy="6054436"/>
          </a:xfrm>
        </p:spPr>
        <p:txBody>
          <a:bodyPr>
            <a:normAutofit/>
          </a:bodyPr>
          <a:lstStyle/>
          <a:p>
            <a:r>
              <a:rPr lang="en-US" dirty="0" smtClean="0"/>
              <a:t>Infrastructure as Code (</a:t>
            </a:r>
            <a:r>
              <a:rPr lang="en-US" dirty="0" err="1" smtClean="0"/>
              <a:t>IaC</a:t>
            </a:r>
            <a:r>
              <a:rPr lang="en-US" dirty="0" smtClean="0"/>
              <a:t>) is a process for managing and operating data servers, storage systems, system configurations, and network infrastructure. </a:t>
            </a:r>
          </a:p>
          <a:p>
            <a:r>
              <a:rPr lang="en-US" dirty="0" smtClean="0"/>
              <a:t>In traditional configuration management practices, each minute configuration change required manual action by system administrators and the IT support team. But with </a:t>
            </a:r>
            <a:r>
              <a:rPr lang="en-US" dirty="0" err="1" smtClean="0"/>
              <a:t>IaC</a:t>
            </a:r>
            <a:r>
              <a:rPr lang="en-US" dirty="0" smtClean="0"/>
              <a:t>, all the configuration details are managed and stored in a standardized file system, wherein the system automatically manages infrastructure changes and deals with system configurations. </a:t>
            </a:r>
          </a:p>
          <a:p>
            <a:r>
              <a:rPr lang="en-US" dirty="0" smtClean="0"/>
              <a:t>Therefore, we do not require most of the manual effort since everything is managed and automated by following the </a:t>
            </a:r>
            <a:r>
              <a:rPr lang="en-US" dirty="0" err="1" smtClean="0"/>
              <a:t>IaC</a:t>
            </a:r>
            <a:r>
              <a:rPr lang="en-US" dirty="0" smtClean="0"/>
              <a:t> approach. Tools such as Terraform or </a:t>
            </a:r>
            <a:r>
              <a:rPr lang="en-US" dirty="0" err="1" smtClean="0"/>
              <a:t>Ansible</a:t>
            </a:r>
            <a:r>
              <a:rPr lang="en-US" dirty="0" smtClean="0"/>
              <a:t> can be used to implement </a:t>
            </a:r>
            <a:r>
              <a:rPr lang="en-US" dirty="0" err="1" smtClean="0"/>
              <a:t>IaC</a:t>
            </a:r>
            <a:r>
              <a:rPr lang="en-US" dirty="0" smtClean="0"/>
              <a:t> approach.</a:t>
            </a:r>
            <a:endParaRPr lang="en-US" dirty="0"/>
          </a:p>
        </p:txBody>
      </p:sp>
    </p:spTree>
    <p:extLst>
      <p:ext uri="{BB962C8B-B14F-4D97-AF65-F5344CB8AC3E}">
        <p14:creationId xmlns:p14="http://schemas.microsoft.com/office/powerpoint/2010/main" val="9826998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3. How Terraform works?</a:t>
            </a:r>
            <a:endParaRPr lang="en-US" b="1" dirty="0"/>
          </a:p>
        </p:txBody>
      </p:sp>
      <p:sp>
        <p:nvSpPr>
          <p:cNvPr id="3" name="Content Placeholder 2"/>
          <p:cNvSpPr>
            <a:spLocks noGrp="1"/>
          </p:cNvSpPr>
          <p:nvPr>
            <p:ph idx="1"/>
          </p:nvPr>
        </p:nvSpPr>
        <p:spPr>
          <a:xfrm>
            <a:off x="350982" y="1825625"/>
            <a:ext cx="11002818" cy="4351338"/>
          </a:xfrm>
        </p:spPr>
        <p:txBody>
          <a:bodyPr/>
          <a:lstStyle/>
          <a:p>
            <a:r>
              <a:rPr lang="en-US" dirty="0" smtClean="0"/>
              <a:t>Terraform produce an execution plan delineate, what it will do to reach the desired state, and then executes it to build the described infrastructure. As the configuration changes, Terraform is able to determine what changed and create incremental execution plans which can be applied.</a:t>
            </a:r>
            <a:endParaRPr lang="en-US" dirty="0"/>
          </a:p>
        </p:txBody>
      </p:sp>
    </p:spTree>
    <p:extLst>
      <p:ext uri="{BB962C8B-B14F-4D97-AF65-F5344CB8AC3E}">
        <p14:creationId xmlns:p14="http://schemas.microsoft.com/office/powerpoint/2010/main" val="38829091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545" y="0"/>
            <a:ext cx="11215255" cy="1325563"/>
          </a:xfrm>
        </p:spPr>
        <p:txBody>
          <a:bodyPr/>
          <a:lstStyle/>
          <a:p>
            <a:r>
              <a:rPr lang="en-US" b="1" dirty="0" smtClean="0"/>
              <a:t>4. What is difference between virtualization and containerization?</a:t>
            </a:r>
            <a:endParaRPr lang="en-US" b="1" dirty="0"/>
          </a:p>
        </p:txBody>
      </p:sp>
      <p:sp>
        <p:nvSpPr>
          <p:cNvPr id="3" name="Content Placeholder 2"/>
          <p:cNvSpPr>
            <a:spLocks noGrp="1"/>
          </p:cNvSpPr>
          <p:nvPr>
            <p:ph idx="1"/>
          </p:nvPr>
        </p:nvSpPr>
        <p:spPr>
          <a:xfrm>
            <a:off x="138545" y="1825625"/>
            <a:ext cx="11215255" cy="4351338"/>
          </a:xfrm>
        </p:spPr>
        <p:txBody>
          <a:bodyPr/>
          <a:lstStyle/>
          <a:p>
            <a:r>
              <a:rPr lang="en-US" dirty="0" smtClean="0"/>
              <a:t>Containers provide an isolated environment for running the application. The entire user space is explicitly dedicated to the application. Any changes made inside the container is never reflected on the host or even other containers running on the same host. Containers are an abstraction of the application layer. Each container is a different application. </a:t>
            </a:r>
          </a:p>
          <a:p>
            <a:r>
              <a:rPr lang="en-US" dirty="0" smtClean="0"/>
              <a:t>Whereas in Virtualization, hypervisors provide an entire virtual machine to the guest(including </a:t>
            </a:r>
            <a:r>
              <a:rPr lang="en-US" dirty="0" err="1" smtClean="0"/>
              <a:t>Kernal</a:t>
            </a:r>
            <a:r>
              <a:rPr lang="en-US" dirty="0" smtClean="0"/>
              <a:t>). Virtual machines are an abstraction of the hardware layer. Each VM is a physical machine.</a:t>
            </a:r>
            <a:endParaRPr lang="en-US" dirty="0"/>
          </a:p>
        </p:txBody>
      </p:sp>
    </p:spTree>
    <p:extLst>
      <p:ext uri="{BB962C8B-B14F-4D97-AF65-F5344CB8AC3E}">
        <p14:creationId xmlns:p14="http://schemas.microsoft.com/office/powerpoint/2010/main" val="5150323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5" name="Picture 4"/>
          <p:cNvPicPr>
            <a:picLocks noChangeAspect="1"/>
          </p:cNvPicPr>
          <p:nvPr/>
        </p:nvPicPr>
        <p:blipFill rotWithShape="1">
          <a:blip r:embed="rId2"/>
          <a:srcRect l="9244" t="3736" r="6471"/>
          <a:stretch/>
        </p:blipFill>
        <p:spPr>
          <a:xfrm>
            <a:off x="198495" y="365125"/>
            <a:ext cx="11795010" cy="4636655"/>
          </a:xfrm>
          <a:prstGeom prst="rect">
            <a:avLst/>
          </a:prstGeom>
        </p:spPr>
      </p:pic>
    </p:spTree>
    <p:extLst>
      <p:ext uri="{BB962C8B-B14F-4D97-AF65-F5344CB8AC3E}">
        <p14:creationId xmlns:p14="http://schemas.microsoft.com/office/powerpoint/2010/main" val="38718136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120073" y="87320"/>
            <a:ext cx="12108011" cy="6770679"/>
          </a:xfrm>
          <a:prstGeom prst="rect">
            <a:avLst/>
          </a:prstGeom>
        </p:spPr>
      </p:pic>
    </p:spTree>
    <p:extLst>
      <p:ext uri="{BB962C8B-B14F-4D97-AF65-F5344CB8AC3E}">
        <p14:creationId xmlns:p14="http://schemas.microsoft.com/office/powerpoint/2010/main" val="15505588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5. What are Docker Images? </a:t>
            </a:r>
            <a:endParaRPr lang="en-US" b="1" dirty="0"/>
          </a:p>
        </p:txBody>
      </p:sp>
      <p:sp>
        <p:nvSpPr>
          <p:cNvPr id="3" name="Content Placeholder 2"/>
          <p:cNvSpPr>
            <a:spLocks noGrp="1"/>
          </p:cNvSpPr>
          <p:nvPr>
            <p:ph idx="1"/>
          </p:nvPr>
        </p:nvSpPr>
        <p:spPr>
          <a:xfrm>
            <a:off x="286327" y="1825625"/>
            <a:ext cx="11067473" cy="4351338"/>
          </a:xfrm>
        </p:spPr>
        <p:txBody>
          <a:bodyPr/>
          <a:lstStyle/>
          <a:p>
            <a:r>
              <a:rPr lang="en-US" dirty="0" smtClean="0"/>
              <a:t>Docker image is the source of Docker container. In other words, Docker images are used to create containers. When a user runs a Docker image, an instance of a container is created. These </a:t>
            </a:r>
            <a:r>
              <a:rPr lang="en-US" dirty="0" err="1" smtClean="0"/>
              <a:t>docker</a:t>
            </a:r>
            <a:r>
              <a:rPr lang="en-US" dirty="0" smtClean="0"/>
              <a:t> images can be deployed to any Docker environment. </a:t>
            </a:r>
            <a:endParaRPr lang="en-US" dirty="0"/>
          </a:p>
        </p:txBody>
      </p:sp>
    </p:spTree>
    <p:extLst>
      <p:ext uri="{BB962C8B-B14F-4D97-AF65-F5344CB8AC3E}">
        <p14:creationId xmlns:p14="http://schemas.microsoft.com/office/powerpoint/2010/main" val="39889262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274</TotalTime>
  <Words>608</Words>
  <Application>Microsoft Office PowerPoint</Application>
  <PresentationFormat>Widescreen</PresentationFormat>
  <Paragraphs>34</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Calibri Light</vt:lpstr>
      <vt:lpstr>Office Theme</vt:lpstr>
      <vt:lpstr>What is SSH command?</vt:lpstr>
      <vt:lpstr>The ssh command provides a secure encrypted connection between two hosts over an insecure network. This connection can also be used for terminal access, file transfers, and for tunneling other applications. </vt:lpstr>
      <vt:lpstr>PowerPoint Presentation</vt:lpstr>
      <vt:lpstr>PowerPoint Presentation</vt:lpstr>
      <vt:lpstr>For windows ssh connection use PuTTY</vt:lpstr>
      <vt:lpstr>PowerPoint Presentation</vt:lpstr>
      <vt:lpstr>1. What are the different phases in DevOps? </vt:lpstr>
      <vt:lpstr>2. Explain the concept behind Infrastructure as Code (IaC). </vt:lpstr>
      <vt:lpstr>3. How Terraform works?</vt:lpstr>
      <vt:lpstr>4. What is difference between virtualization and containerization?</vt:lpstr>
      <vt:lpstr>PowerPoint Presentation</vt:lpstr>
      <vt:lpstr>PowerPoint Presentation</vt:lpstr>
      <vt:lpstr>5. What are Docker Images?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996501257474</dc:creator>
  <cp:lastModifiedBy>996501257474</cp:lastModifiedBy>
  <cp:revision>14</cp:revision>
  <dcterms:created xsi:type="dcterms:W3CDTF">2022-07-29T13:32:27Z</dcterms:created>
  <dcterms:modified xsi:type="dcterms:W3CDTF">2022-07-29T18:06:37Z</dcterms:modified>
</cp:coreProperties>
</file>